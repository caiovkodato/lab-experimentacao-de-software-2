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2926080" cy="2926080"/>
          </a:xfrm>
          <a:prstGeom prst="ellipse">
            <a:avLst/>
          </a:prstGeom>
          <a:solidFill>
            <a:srgbClr val="4C72B0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463040"/>
            <a:ext cx="2926080" cy="2926080"/>
          </a:xfrm>
          <a:prstGeom prst="ellipse">
            <a:avLst/>
          </a:prstGeom>
          <a:solidFill>
            <a:srgbClr val="C44E52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4C72B0"/>
                </a:solidFill>
              </a:rPr>
              <a:t>LAB02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Assistentes de IA vs.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Codificação Manual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B4D4"/>
                </a:solidFill>
              </a:rPr>
              <a:t>Um experimento controlado comparando tempo, defeitos e estrutura de código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4C72B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57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20240" y="457200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4E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20240" y="457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1A8"/>
                </a:solidFill>
              </a:rPr>
              <a:t>Jonas Martins  ·  Caio Victor Kodato Teixeira  ·  Henrique Volponi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</a:rPr>
              <a:t>Laboratório de Experimentação de Software · Prof. Danilo Maia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Questões de Pesquisa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1A8"/>
                </a:solidFill>
              </a:rPr>
              <a:t>IA generativa é onipresente na programação, mas a evidência de seu impacto ainda é majoritariamente anedótica.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4688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4C72B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468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089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258"/>
                </a:solidFill>
              </a:rPr>
              <a:t>O uso de IA reduz o tempo necessário para resolver uma tarefa de programação?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429000" y="21945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24688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4C72B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0" y="2468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1089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258"/>
                </a:solidFill>
              </a:rPr>
              <a:t>O uso de IA reduz a quantidade de defeitos no código produzido?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09360" y="21945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24688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4C72B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537960" y="2468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RQ3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31089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258"/>
                </a:solidFill>
              </a:rPr>
              <a:t>O uso de IA altera a complexidade ciclomática ou a duplicação do código?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189720" y="21945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418320" y="246888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418320" y="2468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418320" y="31089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E4258"/>
                </a:solidFill>
              </a:rPr>
              <a:t>O tipo de informação omitida de um enunciado (convenção vs. regra arbitrária) afeta o nº de prompts?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6E5BA6"/>
          </a:solidFill>
          <a:ln/>
        </p:spPr>
      </p:sp>
      <p:pic>
        <p:nvPicPr>
          <p:cNvPr id="3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Contexto e Referencial Teórico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618488"/>
            <a:ext cx="292608" cy="292608"/>
          </a:xfrm>
          <a:prstGeom prst="ellipse">
            <a:avLst/>
          </a:prstGeom>
          <a:solidFill>
            <a:srgbClr val="6E5B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27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258"/>
                </a:solidFill>
              </a:rPr>
              <a:t>Segundo laboratório da disciplina — experimento controlado (Lab01 era observacional)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459736"/>
            <a:ext cx="292608" cy="292608"/>
          </a:xfrm>
          <a:prstGeom prst="ellipse">
            <a:avLst/>
          </a:prstGeom>
          <a:solidFill>
            <a:srgbClr val="6E5BA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3682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258"/>
                </a:solidFill>
              </a:rPr>
              <a:t>Os 3 integrantes são simultaneamente pesquisadores e sujeitos experimentais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3300984"/>
            <a:ext cx="292608" cy="292608"/>
          </a:xfrm>
          <a:prstGeom prst="ellipse">
            <a:avLst/>
          </a:prstGeom>
          <a:solidFill>
            <a:srgbClr val="6E5B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300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320954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258"/>
                </a:solidFill>
              </a:rPr>
              <a:t>6 katas autorais e pouco indexados, resolvidos individualmente por cada integrante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142232"/>
            <a:ext cx="292608" cy="292608"/>
          </a:xfrm>
          <a:prstGeom prst="ellipse">
            <a:avLst/>
          </a:prstGeom>
          <a:solidFill>
            <a:srgbClr val="6E5BA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142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405079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258"/>
                </a:solidFill>
              </a:rPr>
              <a:t>Método GQM (Basili, Caldiera &amp; Rombach): um Goal decomposto nas RQs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" y="4983480"/>
            <a:ext cx="292608" cy="292608"/>
          </a:xfrm>
          <a:prstGeom prst="ellipse">
            <a:avLst/>
          </a:prstGeom>
          <a:solidFill>
            <a:srgbClr val="6E5BA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49834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892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258"/>
                </a:solidFill>
              </a:rPr>
              <a:t>Desenho crossover / within-subject contrabalançado — cada pessoa é seu próprio controle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D9603B"/>
          </a:solidFill>
          <a:ln/>
        </p:spPr>
      </p:sp>
      <p:pic>
        <p:nvPicPr>
          <p:cNvPr id="3" name="Image 0" descr="icons/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Principais Desafios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57400"/>
            <a:ext cx="274320" cy="27432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34440" y="170992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Padronizar katas de dificuldade equivalente e pouco indexados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16712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891A8"/>
                </a:solidFill>
              </a:rPr>
              <a:t>reduzir o risco de a IA reproduzir uma solução memorizada do treinamento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474720"/>
            <a:ext cx="274320" cy="27432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34440" y="312724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Ausência de histórico de mudança de coluna no GitHub Projects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5844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891A8"/>
                </a:solidFill>
              </a:rPr>
              <a:t>exigiu snapshots manuais recorrentes ao final de cada sprint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4892040"/>
            <a:ext cx="274320" cy="274320"/>
          </a:xfrm>
          <a:prstGeom prst="ellipse">
            <a:avLst/>
          </a:prstGeom>
          <a:solidFill>
            <a:srgbClr val="D9603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34440" y="454456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Primeira versão do kata de ambiguidade (k7) falhou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500176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891A8"/>
                </a:solidFill>
              </a:rPr>
              <a:t>a regra escondida coincidia com hábito defensivo de programação → precisou de redesenho metodológico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3D8B96"/>
          </a:solidFill>
          <a:ln/>
        </p:spPr>
      </p:sp>
      <p:pic>
        <p:nvPicPr>
          <p:cNvPr id="3" name="Image 0" descr="icons/f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Tomadas de Decisão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6916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920240"/>
            <a:ext cx="365760" cy="365760"/>
          </a:xfrm>
          <a:prstGeom prst="ellipse">
            <a:avLst/>
          </a:prstGeom>
          <a:solidFill>
            <a:srgbClr val="3D8B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4688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WIP = 4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10896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8"/>
                </a:solidFill>
              </a:rPr>
              <a:t>sprint roda de segunda a quinta (4 dias úteis)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16352" y="16916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80944" y="1920240"/>
            <a:ext cx="365760" cy="365760"/>
          </a:xfrm>
          <a:prstGeom prst="ellipse">
            <a:avLst/>
          </a:prstGeom>
          <a:solidFill>
            <a:srgbClr val="3D8B9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80944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980944" y="24688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Assistente único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980944" y="310896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8"/>
                </a:solidFill>
              </a:rPr>
              <a:t>Claude (gratuito), o mesmo para os 3 integrantes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84064" y="16916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48656" y="1920240"/>
            <a:ext cx="365760" cy="365760"/>
          </a:xfrm>
          <a:prstGeom prst="ellipse">
            <a:avLst/>
          </a:prstGeom>
          <a:solidFill>
            <a:srgbClr val="3D8B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248656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248656" y="24688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Python + Radon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248656" y="310896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8"/>
                </a:solidFill>
              </a:rPr>
              <a:t>em vez de Java + CK — menor curva de configuração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351776" y="16916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16368" y="1920240"/>
            <a:ext cx="365760" cy="365760"/>
          </a:xfrm>
          <a:prstGeom prst="ellipse">
            <a:avLst/>
          </a:prstGeom>
          <a:solidFill>
            <a:srgbClr val="3D8B9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516368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16368" y="24688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6 katas (não 4)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516368" y="310896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8"/>
                </a:solidFill>
              </a:rPr>
              <a:t>18 trials — mais robustez estatística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619488" y="16916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84080" y="1920240"/>
            <a:ext cx="365760" cy="365760"/>
          </a:xfrm>
          <a:prstGeom prst="ellipse">
            <a:avLst/>
          </a:prstGeom>
          <a:solidFill>
            <a:srgbClr val="3D8B9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784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784080" y="24688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Contrabalanceamento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784080" y="310896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1A8"/>
                </a:solidFill>
              </a:rPr>
              <a:t>cada kata aparece com e sem IA em pessoas diferentes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4C72B0"/>
          </a:solidFill>
          <a:ln/>
        </p:spPr>
      </p:sp>
      <p:pic>
        <p:nvPicPr>
          <p:cNvPr id="3" name="Image 0" descr="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Etapas — Sprints e Responsáveis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7432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Sprint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Entregas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Responsável(is)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Issues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S01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Estrutura, cronômetro, ambiente, katas, hipóteses, snapshot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Caio/Henrique/Jonas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#1–#6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S02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18 trials executados (6 por integrante)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Caio/Henrique/Jonas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#11–#28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S03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Consolidação, RQ1/RQ2, RQ3, Dashboard, RQ extra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Caio/Henrique/Jonas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#38–#48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Final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Relatório final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Jonas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258"/>
                          </a:solidFill>
                        </a:rPr>
                        <a:t>#49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5720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DEFF7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</a:rPr>
              <a:t>Board (GitHub Projects v2):  Backlog → To Do → Doing → Review → Done   ·   WIP = 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3D8B96"/>
          </a:solidFill>
          <a:ln/>
        </p:spPr>
      </p:sp>
      <p:pic>
        <p:nvPicPr>
          <p:cNvPr id="3" name="Image 0" descr="icons/ru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Tabela de Métricas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7432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RQ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Definição Operacional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Ferramenta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RQ1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Time-to-green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Tempo até todos os testes passarem (censura em 35min)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Cronometragem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RQ2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Taxa de sucesso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Testes passando / total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pytest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RQ3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Complexidade / LOC / Dup.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Radon cc, contagem de linhas, jscpd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Radon / jscpd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Extra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Nº de prompts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Interações com a IA até convergir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E4258"/>
                          </a:solidFill>
                        </a:rPr>
                        <a:t>Registro manual</a:t>
                      </a:r>
                      <a:endParaRPr lang="en-US" sz="14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4C72B0"/>
          </a:solidFill>
          <a:ln/>
        </p:spPr>
      </p:sp>
      <p:pic>
        <p:nvPicPr>
          <p:cNvPr id="3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RQ1 — Tempo até Passar nos Testes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pic>
        <p:nvPicPr>
          <p:cNvPr id="6" name="Image 1" descr="images/dashboard_s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4297680" cy="35478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5544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C72B0"/>
                </a:solidFill>
              </a:rPr>
              <a:t>4,3x</a:t>
            </a:r>
            <a:endParaRPr lang="en-US" sz="46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514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1A8"/>
                </a:solidFill>
              </a:rPr>
              <a:t>mais rápido com IA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743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E4258"/>
                </a:solidFill>
              </a:rPr>
              <a:t>Mediana: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E4258"/>
                </a:solidFill>
              </a:rPr>
              <a:t>180s (IA) vs. 780s (Manual)
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E4258"/>
                </a:solidFill>
              </a:rPr>
              <a:t>Mann-Whitney: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E4258"/>
                </a:solidFill>
              </a:rPr>
              <a:t>p = 0,0039
</a:t>
            </a:r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E4258"/>
                </a:solidFill>
              </a:rPr>
              <a:t>Wilcoxon pareado (n=3):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E4258"/>
                </a:solidFill>
              </a:rPr>
              <a:t>p = 0,50 (baixo poder)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443484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E8F5E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94360" y="44348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A02C"/>
                </a:solidFill>
              </a:rPr>
              <a:t>✓ Hipótese confirmada com forte evidência estatística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2CA02C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RQ2 — Taxa de Sucesso (Defeitos)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25196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CA02C"/>
                </a:solidFill>
              </a:rPr>
              <a:t>100%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2560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1A8"/>
                </a:solidFill>
              </a:rPr>
              <a:t>de sucesso em TODOS os 18 trials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1A8"/>
                </a:solidFill>
              </a:rPr>
              <a:t>(com IA e sem IA — sem uma única exceção)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913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 que se esperava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3891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</a:rPr>
              <a:t>Taxa de sucesso levemente maior com IA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3913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 que aconteceu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43891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</a:rPr>
              <a:t>Ausência completa de variância — teste estatístico matematicamente inaplicável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374904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3913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Por quê importa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3891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</a:rPr>
              <a:t>Katas calibrados para dificuldade equivalente foram resolvíveis com confiança nos dois tratamentos — limitação de desenho, não falha de execução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6E5BA6"/>
          </a:solidFill>
          <a:ln/>
        </p:spPr>
      </p:sp>
      <p:pic>
        <p:nvPicPr>
          <p:cNvPr id="3" name="Image 0" descr="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RQ3 — Complexidade e Duplicação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pic>
        <p:nvPicPr>
          <p:cNvPr id="6" name="Image 1" descr="images/loc_por_trata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3566160" cy="2679192"/>
          </a:xfrm>
          <a:prstGeom prst="rect">
            <a:avLst/>
          </a:prstGeom>
        </p:spPr>
      </p:pic>
      <p:pic>
        <p:nvPicPr>
          <p:cNvPr id="7" name="Image 2" descr="images/cc_por_kl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417320"/>
            <a:ext cx="3566160" cy="29718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0" y="146304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4C72B0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822960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229600" y="192024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4E52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229600" y="1920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229600" y="24688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E4258"/>
                </a:solidFill>
              </a:rPr>
              <a:t>Complexidade bruta: 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E4258"/>
                </a:solidFill>
              </a:rPr>
              <a:t>p=0,12 (não significativo)
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E4258"/>
                </a:solidFill>
              </a:rPr>
              <a:t>LOC: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E4258"/>
                </a:solidFill>
              </a:rPr>
              <a:t>mediana maior com IA (30 vs 24)
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E4258"/>
                </a:solidFill>
              </a:rPr>
              <a:t>CC/KLOC: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E4258"/>
                </a:solidFill>
              </a:rPr>
              <a:t>separação mais nítida (IA~200 vs Manual~300)
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3E4258"/>
                </a:solidFill>
              </a:rPr>
              <a:t>Duplicação: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E4258"/>
                </a:solidFill>
              </a:rPr>
              <a:t>0% nos dois grupos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8229600" y="47548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EDE7F6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8366760" y="47548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5BA6"/>
                </a:solidFill>
              </a:rPr>
              <a:t>Código IA: mais longo, porém menos denso em complexidade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on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RQ Extra — Metodologia (Inovação, 30%)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1A8"/>
                </a:solidFill>
              </a:rPr>
              <a:t>3 katas adicionais, cada um com uma regra de negócio omitida do enunciado — reveladas apenas pelos testes automatizados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k7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0" y="23317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4C72B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320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Hábito de código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9260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258"/>
                </a:solidFill>
              </a:rPr>
              <a:t>Normalização de maiúsculas/minúsculas na comparação de string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214884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k8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492240" y="23317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4E5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Regra arbitrária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9260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258"/>
                </a:solidFill>
              </a:rPr>
              <a:t>Carência de 5 dias antes da multa, exclusiva para usuários "professor"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214884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k9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0241280" y="233172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C44E5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0" y="2331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Regra arbitrária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9260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258"/>
                </a:solidFill>
              </a:rPr>
              <a:t>Pontos em dobro nas compras realizadas às quartas-feiras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4632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3E4258"/>
                </a:solidFill>
              </a:rPr>
              <a:t>Prompts em registro informal e desorganizado, apresentados ao Gemini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3E4258"/>
                </a:solidFill>
              </a:rPr>
              <a:t>Isola quem desenhou os katas (Claude) de quem tentou resolvê-los (Gemini)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450" dirty="0">
                <a:solidFill>
                  <a:srgbClr val="3E4258"/>
                </a:solidFill>
              </a:rPr>
              <a:t>k7 replicado em 2 execuções independentes para checar consistência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RQ Extra — Resultados e Discussão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pic>
        <p:nvPicPr>
          <p:cNvPr id="6" name="Image 1" descr="images/rq_extra_por_tipo_reg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4663440" cy="34747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0" y="155448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E4258"/>
                </a:solidFill>
              </a:rPr>
              <a:t>k7 (hábito):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E4258"/>
                </a:solidFill>
              </a:rPr>
              <a:t>1 prompt, 2x — replicado
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E4258"/>
                </a:solidFill>
              </a:rPr>
              <a:t>k8 e k9 (arbitrária):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E4258"/>
                </a:solidFill>
              </a:rPr>
              <a:t>2 prompts cada
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0" y="2743200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FFF4E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669280" y="27432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91E"/>
                </a:solidFill>
              </a:rPr>
              <a:t>Fator decisivo: se a regra é inferível por convenção de código — não a desorganização do prompt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41605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3E4258"/>
                </a:solidFill>
              </a:rPr>
              <a:t>Regras universais → aplicadas por padrão pela IA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3E4258"/>
                </a:solidFill>
              </a:rPr>
              <a:t>Regras de negócio específicas → geram fricção real</a:t>
            </a:r>
            <a:endParaRPr lang="en-US" sz="140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400" dirty="0">
                <a:solidFill>
                  <a:srgbClr val="3E4258"/>
                </a:solidFill>
              </a:rPr>
              <a:t>Limitação: amostra pequena (n=4 trials), qualitativo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D9603B"/>
          </a:solidFill>
          <a:ln/>
        </p:spPr>
      </p:sp>
      <p:pic>
        <p:nvPicPr>
          <p:cNvPr id="3" name="Image 0" descr="icons/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552298"/>
            <a:ext cx="358445" cy="35844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38404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</a:rPr>
              <a:t>Limitações e Trabalhos Futuros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0" y="1234440"/>
            <a:ext cx="12161520" cy="16459"/>
          </a:xfrm>
          <a:prstGeom prst="rect">
            <a:avLst/>
          </a:prstGeom>
          <a:solidFill>
            <a:srgbClr val="E3E6F0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603B"/>
                </a:solidFill>
              </a:rPr>
              <a:t>Limitações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n=9 por tratamento — pequeno para significância convencional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RQ2 sem variância — katas fáceis demais para gerar defeito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Erro de rotulagem identificado e corrigido durante a consolidação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RQ extra com amostra ainda menor (3 katas, 4 trials)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8B96"/>
                </a:solidFill>
              </a:rPr>
              <a:t>Trabalhos futuros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2402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Calibrar katas para dificuldade maior (testar RQ2 de fato)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Ampliar a investigação de ambiguidade com mais katas por categoria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3E4258"/>
                </a:solidFill>
              </a:rPr>
              <a:t>Protocolo mais rigoroso de controle da informação nas mensagens de erro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74320" cy="2743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544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IA reduz substancialmente o tempo de resolução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057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</a:rPr>
              <a:t>4,3x mais rápido, com forte evidência estatística (p=0,0039)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74320" cy="274320"/>
          </a:xfrm>
          <a:prstGeom prst="ellipse">
            <a:avLst/>
          </a:prstGeom>
          <a:solidFill>
            <a:srgbClr val="2CA0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743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Sem custo aparente em qualidade funcional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246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</a:rPr>
              <a:t>mas RQ2 não discriminou tratamentos (100% de sucesso em ambos)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274320" cy="274320"/>
          </a:xfrm>
          <a:prstGeom prst="ellipse">
            <a:avLst/>
          </a:prstGeom>
          <a:solidFill>
            <a:srgbClr val="8B7F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9319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Código com IA: mais verboso, porém menos complexo por linha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434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</a:rPr>
              <a:t>LOC maior, CC/KLOC menor — nuance que a complexidade bruta não capturava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120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Ambiguidade de regra de negócio gera mais interação com a IA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623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</a:rPr>
              <a:t>não a desorganização do prompt em si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Obrigado!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D4"/>
                </a:solidFill>
              </a:rPr>
              <a:t>github.com/CaioVKodato/lab-experimentacao-de-software-2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10424160" cy="4892040"/>
          </a:xfrm>
          <a:prstGeom prst="roundRect">
            <a:avLst>
              <a:gd name="adj" fmla="val 561"/>
            </a:avLst>
          </a:prstGeom>
          <a:solidFill>
            <a:srgbClr val="FFFFFF"/>
          </a:solidFill>
          <a:ln/>
        </p:spPr>
      </p:sp>
      <p:pic>
        <p:nvPicPr>
          <p:cNvPr id="5" name="Image 0" descr="images/boar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37360"/>
            <a:ext cx="10149840" cy="4791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2026-09-25T02:44:13Z</dcterms:created>
  <dcterms:modified xsi:type="dcterms:W3CDTF">2026-09-25T02:44:13Z</dcterms:modified>
</cp:coreProperties>
</file>